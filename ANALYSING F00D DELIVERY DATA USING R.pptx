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" charset="1" panose="02020603050405020304"/>
      <p:regular r:id="rId18"/>
    </p:embeddedFont>
    <p:embeddedFont>
      <p:font typeface="Helvetica World Bold" charset="1" panose="020B0800040000020004"/>
      <p:regular r:id="rId19"/>
    </p:embeddedFont>
    <p:embeddedFont>
      <p:font typeface="Times New Roman Bold" charset="1" panose="0202080307050502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36" y="2367939"/>
            <a:ext cx="10590962" cy="164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8"/>
              </a:lnSpc>
            </a:pPr>
            <a:r>
              <a:rPr lang="en-US" sz="6074" spc="-425">
                <a:solidFill>
                  <a:srgbClr val="E467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ANALYSING FOOD DELIVERY </a:t>
            </a:r>
          </a:p>
          <a:p>
            <a:pPr algn="ctr" marL="0" indent="0" lvl="0">
              <a:lnSpc>
                <a:spcPts val="4008"/>
              </a:lnSpc>
            </a:pPr>
          </a:p>
          <a:p>
            <a:pPr algn="ctr">
              <a:lnSpc>
                <a:spcPts val="4008"/>
              </a:lnSpc>
            </a:pPr>
            <a:r>
              <a:rPr lang="en-US" sz="6074" spc="-425">
                <a:solidFill>
                  <a:srgbClr val="E467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USING 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44994" y="1028700"/>
            <a:ext cx="6164719" cy="8229600"/>
          </a:xfrm>
          <a:custGeom>
            <a:avLst/>
            <a:gdLst/>
            <a:ahLst/>
            <a:cxnLst/>
            <a:rect r="r" b="b" t="t" l="l"/>
            <a:pathLst>
              <a:path h="8229600" w="6164719">
                <a:moveTo>
                  <a:pt x="0" y="0"/>
                </a:moveTo>
                <a:lnTo>
                  <a:pt x="6164718" y="0"/>
                </a:lnTo>
                <a:lnTo>
                  <a:pt x="61647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119936" y="9182100"/>
            <a:ext cx="4283093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4636093" y="9182100"/>
            <a:ext cx="1630207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00843" y="6146808"/>
            <a:ext cx="7487802" cy="2821266"/>
            <a:chOff x="0" y="0"/>
            <a:chExt cx="1972096" cy="743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2096" cy="743049"/>
            </a:xfrm>
            <a:custGeom>
              <a:avLst/>
              <a:gdLst/>
              <a:ahLst/>
              <a:cxnLst/>
              <a:rect r="r" b="b" t="t" l="l"/>
              <a:pathLst>
                <a:path h="743049" w="1972096">
                  <a:moveTo>
                    <a:pt x="25848" y="0"/>
                  </a:moveTo>
                  <a:lnTo>
                    <a:pt x="1946247" y="0"/>
                  </a:lnTo>
                  <a:cubicBezTo>
                    <a:pt x="1960523" y="0"/>
                    <a:pt x="1972096" y="11573"/>
                    <a:pt x="1972096" y="25848"/>
                  </a:cubicBezTo>
                  <a:lnTo>
                    <a:pt x="1972096" y="717201"/>
                  </a:lnTo>
                  <a:cubicBezTo>
                    <a:pt x="1972096" y="731477"/>
                    <a:pt x="1960523" y="743049"/>
                    <a:pt x="1946247" y="743049"/>
                  </a:cubicBezTo>
                  <a:lnTo>
                    <a:pt x="25848" y="743049"/>
                  </a:lnTo>
                  <a:cubicBezTo>
                    <a:pt x="11573" y="743049"/>
                    <a:pt x="0" y="731477"/>
                    <a:pt x="0" y="717201"/>
                  </a:cubicBezTo>
                  <a:lnTo>
                    <a:pt x="0" y="25848"/>
                  </a:lnTo>
                  <a:cubicBezTo>
                    <a:pt x="0" y="11573"/>
                    <a:pt x="11573" y="0"/>
                    <a:pt x="25848" y="0"/>
                  </a:cubicBezTo>
                  <a:close/>
                </a:path>
              </a:pathLst>
            </a:custGeom>
            <a:solidFill>
              <a:srgbClr val="446B9C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14300"/>
              <a:ext cx="1972096" cy="628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705"/>
                </a:lnSpc>
              </a:pPr>
              <a:r>
                <a:rPr lang="en-US" b="true" sz="3299" spc="-9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NAME:S.LAHARIKA</a:t>
              </a:r>
            </a:p>
            <a:p>
              <a:pPr algn="just">
                <a:lnSpc>
                  <a:spcPts val="2705"/>
                </a:lnSpc>
              </a:pPr>
            </a:p>
            <a:p>
              <a:pPr algn="just">
                <a:lnSpc>
                  <a:spcPts val="2705"/>
                </a:lnSpc>
              </a:pPr>
              <a:r>
                <a:rPr lang="en-US" b="true" sz="3299" spc="-9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ROLL NO:23EG110C55</a:t>
              </a:r>
            </a:p>
            <a:p>
              <a:pPr algn="just">
                <a:lnSpc>
                  <a:spcPts val="2705"/>
                </a:lnSpc>
              </a:pPr>
            </a:p>
            <a:p>
              <a:pPr algn="just">
                <a:lnSpc>
                  <a:spcPts val="2705"/>
                </a:lnSpc>
              </a:pPr>
              <a:r>
                <a:rPr lang="en-US" b="true" sz="3299" spc="-98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COURSE:B.TECH(CSE-DS)</a:t>
              </a:r>
            </a:p>
            <a:p>
              <a:pPr algn="just">
                <a:lnSpc>
                  <a:spcPts val="27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09712" y="5818780"/>
            <a:ext cx="498368" cy="206198"/>
            <a:chOff x="0" y="0"/>
            <a:chExt cx="131257" cy="54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11345" y="6193301"/>
            <a:ext cx="498368" cy="206198"/>
            <a:chOff x="0" y="0"/>
            <a:chExt cx="131257" cy="54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44994" y="1699781"/>
            <a:ext cx="345968" cy="143143"/>
            <a:chOff x="0" y="0"/>
            <a:chExt cx="91119" cy="37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536" y="-171450"/>
            <a:ext cx="17482218" cy="124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0"/>
              </a:lnSpc>
              <a:spcBef>
                <a:spcPct val="0"/>
              </a:spcBef>
            </a:pPr>
            <a:r>
              <a:rPr lang="en-US" b="true" sz="7086" spc="-212">
                <a:solidFill>
                  <a:srgbClr val="E467A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BASED LEARNING ON 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1469" y="1021746"/>
            <a:ext cx="13391855" cy="107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1"/>
              </a:lnSpc>
            </a:pPr>
            <a:r>
              <a:rPr lang="en-US" sz="10275" spc="-719">
                <a:solidFill>
                  <a:srgbClr val="E467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469" y="2724335"/>
            <a:ext cx="17805718" cy="47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sz="3999" spc="-11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food delivery platforms generate large amounts of operati</a:t>
            </a:r>
            <a:r>
              <a:rPr lang="en-US" sz="3999" spc="-11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onal and customer data.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  <a:r>
              <a:rPr lang="en-US" sz="379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This data includes delivery time, customer ratings, traffic conditions, and delivery performance.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  <a:r>
              <a:rPr lang="en-US" sz="379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Analyzing this data helps improve delivery efficiency and reduce delays.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  <a:r>
              <a:rPr lang="en-US" sz="379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It also helps improve customer satisfaction and service quality.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  <a:r>
              <a:rPr lang="en-US" sz="379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 this project, food delivery data was analyzed using R programming.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  <a:r>
              <a:rPr lang="en-US" sz="379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Visualization techniques were used to identify patterns and factors affecting delivery performance.</a:t>
            </a:r>
          </a:p>
          <a:p>
            <a:pPr algn="just">
              <a:lnSpc>
                <a:spcPts val="53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164" y="705575"/>
            <a:ext cx="13004439" cy="107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7"/>
              </a:lnSpc>
            </a:pPr>
            <a:r>
              <a:rPr lang="en-US" sz="10299" spc="-720" b="true">
                <a:solidFill>
                  <a:srgbClr val="E467A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3250" y="7040494"/>
            <a:ext cx="3164986" cy="55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b="true" sz="1797" spc="-53">
                <a:solidFill>
                  <a:srgbClr val="FFEC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80% of consumers now expect same-day delivery options.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9027249"/>
            <a:ext cx="345968" cy="143143"/>
            <a:chOff x="0" y="0"/>
            <a:chExt cx="91119" cy="3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61267" y="5139335"/>
            <a:ext cx="498368" cy="206198"/>
            <a:chOff x="0" y="0"/>
            <a:chExt cx="131257" cy="54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2899" y="4745594"/>
            <a:ext cx="498368" cy="206198"/>
            <a:chOff x="0" y="0"/>
            <a:chExt cx="131257" cy="54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1684" y="2905385"/>
            <a:ext cx="10770870" cy="434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44"/>
              </a:lnSpc>
              <a:spcBef>
                <a:spcPct val="0"/>
              </a:spcBef>
            </a:pP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analyze fo</a:t>
            </a: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 delivery data using R programming</a:t>
            </a:r>
          </a:p>
          <a:p>
            <a:pPr algn="just">
              <a:lnSpc>
                <a:spcPts val="5744"/>
              </a:lnSpc>
              <a:spcBef>
                <a:spcPct val="0"/>
              </a:spcBef>
            </a:pP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To study delivery time distribution</a:t>
            </a:r>
          </a:p>
          <a:p>
            <a:pPr algn="just">
              <a:lnSpc>
                <a:spcPts val="5744"/>
              </a:lnSpc>
              <a:spcBef>
                <a:spcPct val="0"/>
              </a:spcBef>
            </a:pP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To evaluate customer ratings</a:t>
            </a:r>
          </a:p>
          <a:p>
            <a:pPr algn="just">
              <a:lnSpc>
                <a:spcPts val="5744"/>
              </a:lnSpc>
              <a:spcBef>
                <a:spcPct val="0"/>
              </a:spcBef>
            </a:pP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To analyze the impact of traffic density</a:t>
            </a:r>
          </a:p>
          <a:p>
            <a:pPr algn="just">
              <a:lnSpc>
                <a:spcPts val="5744"/>
              </a:lnSpc>
              <a:spcBef>
                <a:spcPct val="0"/>
              </a:spcBef>
            </a:pPr>
            <a:r>
              <a:rPr lang="en-US" sz="410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To compare performance across cities and age groups</a:t>
            </a:r>
          </a:p>
          <a:p>
            <a:pPr algn="just">
              <a:lnSpc>
                <a:spcPts val="57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425" y="600075"/>
            <a:ext cx="11726180" cy="7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3"/>
              </a:lnSpc>
            </a:pPr>
            <a:r>
              <a:rPr lang="en-US" sz="7475" spc="-523" b="true">
                <a:solidFill>
                  <a:srgbClr val="E467A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DATASET   DESCRIPTION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794721" y="1422441"/>
            <a:ext cx="498368" cy="206198"/>
            <a:chOff x="0" y="0"/>
            <a:chExt cx="131257" cy="54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96353" y="1028700"/>
            <a:ext cx="498368" cy="206198"/>
            <a:chOff x="0" y="0"/>
            <a:chExt cx="131257" cy="54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8035106"/>
            <a:ext cx="345968" cy="143143"/>
            <a:chOff x="0" y="0"/>
            <a:chExt cx="91119" cy="3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9809" y="2193235"/>
            <a:ext cx="16966394" cy="388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0"/>
              </a:lnSpc>
              <a:spcBef>
                <a:spcPct val="0"/>
              </a:spcBef>
            </a:pPr>
            <a:r>
              <a:rPr lang="en-US" sz="5493" spc="-1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37,231 delivery rec</a:t>
            </a:r>
            <a:r>
              <a:rPr lang="en-US" sz="5493" spc="-1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ords. It includes delivery time, delivery person age, ratings, traffic density, weather conditions, city type, and multiple deliveries. This data helps evaluate delivery performance and operational efficiency.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2932" y="897933"/>
            <a:ext cx="15898000" cy="109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10424" spc="-729" b="true">
                <a:solidFill>
                  <a:srgbClr val="E467A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USED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60932" y="3928156"/>
            <a:ext cx="498368" cy="206198"/>
            <a:chOff x="0" y="0"/>
            <a:chExt cx="131257" cy="54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62564" y="3534415"/>
            <a:ext cx="498368" cy="206198"/>
            <a:chOff x="0" y="0"/>
            <a:chExt cx="131257" cy="54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62932" y="3856821"/>
            <a:ext cx="7329679" cy="289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49"/>
              </a:lnSpc>
              <a:spcBef>
                <a:spcPct val="0"/>
              </a:spcBef>
            </a:pPr>
            <a:r>
              <a:rPr lang="en-US" sz="5463" spc="-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RStudi</a:t>
            </a:r>
            <a:r>
              <a:rPr lang="en-US" sz="5463" spc="-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</a:p>
          <a:p>
            <a:pPr algn="just">
              <a:lnSpc>
                <a:spcPts val="7649"/>
              </a:lnSpc>
              <a:spcBef>
                <a:spcPct val="0"/>
              </a:spcBef>
            </a:pPr>
            <a:r>
              <a:rPr lang="en-US" sz="5463" spc="-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ggplot2 (Visualization)</a:t>
            </a:r>
          </a:p>
          <a:p>
            <a:pPr algn="just">
              <a:lnSpc>
                <a:spcPts val="7649"/>
              </a:lnSpc>
              <a:spcBef>
                <a:spcPct val="0"/>
              </a:spcBef>
            </a:pPr>
            <a:r>
              <a:rPr lang="en-US" sz="5463" spc="-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dplyr (Data Manipulation)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003" y="1028700"/>
            <a:ext cx="16512297" cy="8792798"/>
          </a:xfrm>
          <a:custGeom>
            <a:avLst/>
            <a:gdLst/>
            <a:ahLst/>
            <a:cxnLst/>
            <a:rect r="r" b="b" t="t" l="l"/>
            <a:pathLst>
              <a:path h="8792798" w="16512297">
                <a:moveTo>
                  <a:pt x="0" y="0"/>
                </a:moveTo>
                <a:lnTo>
                  <a:pt x="16512297" y="0"/>
                </a:lnTo>
                <a:lnTo>
                  <a:pt x="16512297" y="8792798"/>
                </a:lnTo>
                <a:lnTo>
                  <a:pt x="0" y="8792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49448"/>
            <a:ext cx="16968380" cy="89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3"/>
              </a:lnSpc>
              <a:spcBef>
                <a:spcPct val="0"/>
              </a:spcBef>
            </a:pPr>
            <a:r>
              <a:rPr lang="en-US" b="true" sz="5024" spc="-1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Delive</a:t>
            </a:r>
            <a:r>
              <a:rPr lang="en-US" b="true" sz="5024" spc="-1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ry Time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175" y="1028700"/>
            <a:ext cx="16588125" cy="8570000"/>
          </a:xfrm>
          <a:custGeom>
            <a:avLst/>
            <a:gdLst/>
            <a:ahLst/>
            <a:cxnLst/>
            <a:rect r="r" b="b" t="t" l="l"/>
            <a:pathLst>
              <a:path h="8570000" w="16588125">
                <a:moveTo>
                  <a:pt x="0" y="0"/>
                </a:moveTo>
                <a:lnTo>
                  <a:pt x="16588125" y="0"/>
                </a:lnTo>
                <a:lnTo>
                  <a:pt x="16588125" y="8570000"/>
                </a:lnTo>
                <a:lnTo>
                  <a:pt x="0" y="857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32" t="-7831" r="-243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30398"/>
            <a:ext cx="16968380" cy="8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Delivery Person Ratings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82772"/>
            <a:ext cx="15860806" cy="8426053"/>
          </a:xfrm>
          <a:custGeom>
            <a:avLst/>
            <a:gdLst/>
            <a:ahLst/>
            <a:cxnLst/>
            <a:rect r="r" b="b" t="t" l="l"/>
            <a:pathLst>
              <a:path h="8426053" w="15860806">
                <a:moveTo>
                  <a:pt x="0" y="0"/>
                </a:moveTo>
                <a:lnTo>
                  <a:pt x="15860806" y="0"/>
                </a:lnTo>
                <a:lnTo>
                  <a:pt x="15860806" y="8426053"/>
                </a:lnTo>
                <a:lnTo>
                  <a:pt x="0" y="8426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30398"/>
            <a:ext cx="16968380" cy="8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</a:t>
            </a: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rders by Road Traffic Density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901" y="928458"/>
            <a:ext cx="17425054" cy="8745847"/>
          </a:xfrm>
          <a:custGeom>
            <a:avLst/>
            <a:gdLst/>
            <a:ahLst/>
            <a:cxnLst/>
            <a:rect r="r" b="b" t="t" l="l"/>
            <a:pathLst>
              <a:path h="8745847" w="17425054">
                <a:moveTo>
                  <a:pt x="0" y="0"/>
                </a:moveTo>
                <a:lnTo>
                  <a:pt x="17425054" y="0"/>
                </a:lnTo>
                <a:lnTo>
                  <a:pt x="17425054" y="8745847"/>
                </a:lnTo>
                <a:lnTo>
                  <a:pt x="0" y="874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9" t="-7958" r="-75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30398"/>
            <a:ext cx="16968380" cy="8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Multiple Deliveries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3610" y="949584"/>
            <a:ext cx="17175377" cy="9124419"/>
          </a:xfrm>
          <a:custGeom>
            <a:avLst/>
            <a:gdLst/>
            <a:ahLst/>
            <a:cxnLst/>
            <a:rect r="r" b="b" t="t" l="l"/>
            <a:pathLst>
              <a:path h="9124419" w="17175377">
                <a:moveTo>
                  <a:pt x="0" y="0"/>
                </a:moveTo>
                <a:lnTo>
                  <a:pt x="17175377" y="0"/>
                </a:lnTo>
                <a:lnTo>
                  <a:pt x="17175377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30398"/>
            <a:ext cx="16968380" cy="8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Average Ratings by City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920" y="1028700"/>
            <a:ext cx="17374525" cy="8889644"/>
          </a:xfrm>
          <a:custGeom>
            <a:avLst/>
            <a:gdLst/>
            <a:ahLst/>
            <a:cxnLst/>
            <a:rect r="r" b="b" t="t" l="l"/>
            <a:pathLst>
              <a:path h="8889644" w="17374525">
                <a:moveTo>
                  <a:pt x="0" y="0"/>
                </a:moveTo>
                <a:lnTo>
                  <a:pt x="17374524" y="0"/>
                </a:lnTo>
                <a:lnTo>
                  <a:pt x="17374524" y="8889644"/>
                </a:lnTo>
                <a:lnTo>
                  <a:pt x="0" y="888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37" r="0" b="-20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920" y="-130398"/>
            <a:ext cx="16968380" cy="8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b="true" sz="4724" spc="-141">
                <a:solidFill>
                  <a:srgbClr val="1E1E1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Ratings by Age Group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1105" y="1028700"/>
            <a:ext cx="227757" cy="227757"/>
          </a:xfrm>
          <a:custGeom>
            <a:avLst/>
            <a:gdLst/>
            <a:ahLst/>
            <a:cxnLst/>
            <a:rect r="r" b="b" t="t" l="l"/>
            <a:pathLst>
              <a:path h="227757" w="227757">
                <a:moveTo>
                  <a:pt x="0" y="0"/>
                </a:moveTo>
                <a:lnTo>
                  <a:pt x="227757" y="0"/>
                </a:lnTo>
                <a:lnTo>
                  <a:pt x="227757" y="227757"/>
                </a:lnTo>
                <a:lnTo>
                  <a:pt x="0" y="22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3562" y="487409"/>
            <a:ext cx="16230600" cy="107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7"/>
              </a:lnSpc>
            </a:pPr>
            <a:r>
              <a:rPr lang="en-US" b="true" sz="10299" spc="-720">
                <a:solidFill>
                  <a:srgbClr val="E467A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686" y="1632521"/>
            <a:ext cx="17954314" cy="692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M</a:t>
            </a: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ost deliveries are completed within 20–35 minutes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Customer ratings are generally high (above 4.5)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Traffic density significantly affects delivery time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Urban areas show slightly better performance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Delivery performance is consistent across age groups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Overall, the analysis shows that the delivery system is efficient and maintains high customer satisfaction.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  <a:r>
              <a:rPr lang="en-US" b="true" sz="4354" spc="-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 programming proved to be an effective tool for real-world data analysis.</a:t>
            </a:r>
          </a:p>
          <a:p>
            <a:pPr algn="just">
              <a:lnSpc>
                <a:spcPts val="60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DAHBmY2Vxng</dc:identifier>
  <dcterms:modified xsi:type="dcterms:W3CDTF">2011-08-01T06:04:30Z</dcterms:modified>
  <cp:revision>1</cp:revision>
  <dc:title>ANALYSING F00D DELIVERY DATA USING R</dc:title>
</cp:coreProperties>
</file>